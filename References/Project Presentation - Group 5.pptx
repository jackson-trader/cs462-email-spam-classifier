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7"/>
  </p:notesMasterIdLst>
  <p:sldIdLst>
    <p:sldId id="256" r:id="rId2"/>
    <p:sldId id="260" r:id="rId3"/>
    <p:sldId id="267" r:id="rId4"/>
    <p:sldId id="269" r:id="rId5"/>
    <p:sldId id="296" r:id="rId6"/>
    <p:sldId id="294" r:id="rId7"/>
    <p:sldId id="268" r:id="rId8"/>
    <p:sldId id="286" r:id="rId9"/>
    <p:sldId id="295" r:id="rId10"/>
    <p:sldId id="297" r:id="rId11"/>
    <p:sldId id="292" r:id="rId12"/>
    <p:sldId id="293" r:id="rId13"/>
    <p:sldId id="289" r:id="rId14"/>
    <p:sldId id="288" r:id="rId15"/>
    <p:sldId id="284" r:id="rId16"/>
  </p:sldIdLst>
  <p:sldSz cx="9144000" cy="5143500" type="screen16x9"/>
  <p:notesSz cx="6858000" cy="9144000"/>
  <p:embeddedFontLst>
    <p:embeddedFont>
      <p:font typeface="Figtree Black" panose="020B0604020202020204" charset="0"/>
      <p:bold r:id="rId18"/>
      <p:boldItalic r:id="rId19"/>
    </p:embeddedFont>
    <p:embeddedFont>
      <p:font typeface="Hanken Grotesk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E66E6-B087-4518-B631-AD41C9F5748D}" v="12796" dt="2025-12-19T18:12:34.966"/>
    <p1510:client id="{32E719C4-2FC7-28A8-BDBE-CB74E9F2B13A}" v="4" dt="2025-12-19T16:19:03.671"/>
    <p1510:client id="{354B084D-59F0-C65F-FF58-2D77FC9EFB53}" v="1" dt="2025-12-19T17:56:31.968"/>
    <p1510:client id="{4F185EA6-0D98-2239-CA5F-2EAB6E174109}" v="1" dt="2025-12-19T15:48:11.686"/>
    <p1510:client id="{872AAE22-C20E-8789-388D-C6ED2758C8C6}" v="1" dt="2025-12-19T16:03:09.147"/>
  </p1510:revLst>
</p1510:revInfo>
</file>

<file path=ppt/tableStyles.xml><?xml version="1.0" encoding="utf-8"?>
<a:tblStyleLst xmlns:a="http://schemas.openxmlformats.org/drawingml/2006/main" def="{BB4A8333-DEDB-4FB6-8C3E-D194EDA5A2B4}">
  <a:tblStyle styleId="{BB4A8333-DEDB-4FB6-8C3E-D194EDA5A2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01" autoAdjust="0"/>
  </p:normalViewPr>
  <p:slideViewPr>
    <p:cSldViewPr snapToGrid="0">
      <p:cViewPr varScale="1">
        <p:scale>
          <a:sx n="174" d="100"/>
          <a:sy n="174" d="100"/>
        </p:scale>
        <p:origin x="126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68ca7ef4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7" name="Google Shape;287;g2768ca7ef4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baseline="0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baseline="0" dirty="0"/>
              <a:t>Title &amp; Intro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4" name="Google Shape;334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(Alex Bryant)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Motivation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17b871a4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7" name="Google Shape;417;g117b871a4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(Alex Bryant)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Research Problem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03" name="Google Shape;503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(Diego Lara)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Dataset Overview</a:t>
            </a:r>
            <a:endParaRPr lang="en-US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0A6E21EA-0B43-BCF3-69BA-4AD659C7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BD6AB131-0EA1-708B-9BA6-8B9275999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3E6FB25A-07BB-6383-FB12-C1BC773F6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WordClouds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247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44D49836-8BA1-1007-F01F-A4CCC152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33f6155f6d_0_69:notes">
            <a:extLst>
              <a:ext uri="{FF2B5EF4-FFF2-40B4-BE49-F238E27FC236}">
                <a16:creationId xmlns:a16="http://schemas.microsoft.com/office/drawing/2014/main" id="{2E986CCC-ACA3-A179-69E2-0413D946F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0" name="Google Shape;460;g133f6155f6d_0_69:notes">
            <a:extLst>
              <a:ext uri="{FF2B5EF4-FFF2-40B4-BE49-F238E27FC236}">
                <a16:creationId xmlns:a16="http://schemas.microsoft.com/office/drawing/2014/main" id="{AFAFA939-7209-7AC3-E39F-EDB6BF0D6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Why These Models?</a:t>
            </a:r>
            <a:endParaRPr lang="en-US" sz="1100" dirty="0">
              <a:latin typeface="Hanken Grotes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746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33f6155f6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0" name="Google Shape;460;g133f6155f6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Proposed Method / Solution</a:t>
            </a: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EA817C52-C83C-264F-C12B-33E2E9AB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17b871a421_0_0:notes">
            <a:extLst>
              <a:ext uri="{FF2B5EF4-FFF2-40B4-BE49-F238E27FC236}">
                <a16:creationId xmlns:a16="http://schemas.microsoft.com/office/drawing/2014/main" id="{296FAB6A-5884-2D88-A966-664368E91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7" name="Google Shape;417;g117b871a421_0_0:notes">
            <a:extLst>
              <a:ext uri="{FF2B5EF4-FFF2-40B4-BE49-F238E27FC236}">
                <a16:creationId xmlns:a16="http://schemas.microsoft.com/office/drawing/2014/main" id="{D9698604-2DD6-FF82-375C-5969DFE52F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(Diego Lara)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Experimental Settings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266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71BC1FF9-F50D-74F5-0199-A97428A37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54dda1946d_6_344:notes">
            <a:extLst>
              <a:ext uri="{FF2B5EF4-FFF2-40B4-BE49-F238E27FC236}">
                <a16:creationId xmlns:a16="http://schemas.microsoft.com/office/drawing/2014/main" id="{B7E02001-3559-DAAE-90D3-E36E9E719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03" name="Google Shape;503;g54dda1946d_6_344:notes">
            <a:extLst>
              <a:ext uri="{FF2B5EF4-FFF2-40B4-BE49-F238E27FC236}">
                <a16:creationId xmlns:a16="http://schemas.microsoft.com/office/drawing/2014/main" id="{3CB8FF3F-35BC-8376-549B-DB06BCB65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Evaluation Metrics</a:t>
            </a:r>
            <a:endParaRPr lang="en-US" sz="1100" b="0" baseline="0" dirty="0"/>
          </a:p>
        </p:txBody>
      </p:sp>
    </p:spTree>
    <p:extLst>
      <p:ext uri="{BB962C8B-B14F-4D97-AF65-F5344CB8AC3E}">
        <p14:creationId xmlns:p14="http://schemas.microsoft.com/office/powerpoint/2010/main" val="3338025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25CE52CF-B80B-04F6-C2FF-43746C32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E09CC0D0-8E4B-42CE-9E09-AD1D9AAD20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4A945CDF-9E2D-1F44-F0D5-39FED28FA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0" u="none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Experimental Results &amp; Comparison</a:t>
            </a:r>
          </a:p>
        </p:txBody>
      </p:sp>
    </p:spTree>
    <p:extLst>
      <p:ext uri="{BB962C8B-B14F-4D97-AF65-F5344CB8AC3E}">
        <p14:creationId xmlns:p14="http://schemas.microsoft.com/office/powerpoint/2010/main" val="1904517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>
          <a:extLst>
            <a:ext uri="{FF2B5EF4-FFF2-40B4-BE49-F238E27FC236}">
              <a16:creationId xmlns:a16="http://schemas.microsoft.com/office/drawing/2014/main" id="{69BE1836-20E3-661B-A1EB-3EC226A59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33f6155f6d_0_69:notes">
            <a:extLst>
              <a:ext uri="{FF2B5EF4-FFF2-40B4-BE49-F238E27FC236}">
                <a16:creationId xmlns:a16="http://schemas.microsoft.com/office/drawing/2014/main" id="{148896B7-B92E-8984-42FE-CDE7D68A4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0" name="Google Shape;460;g133f6155f6d_0_69:notes">
            <a:extLst>
              <a:ext uri="{FF2B5EF4-FFF2-40B4-BE49-F238E27FC236}">
                <a16:creationId xmlns:a16="http://schemas.microsoft.com/office/drawing/2014/main" id="{BB9B4B8D-227F-2BA2-6DB0-585183664D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(Mark Pack)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Other Experiments</a:t>
            </a:r>
            <a:br>
              <a:rPr lang="en-US" dirty="0"/>
            </a:br>
            <a:br>
              <a:rPr lang="en-US" dirty="0"/>
            </a:br>
            <a:endParaRPr lang="en-US" i="0" u="non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8829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9AA7A03E-2B44-A216-3F81-6BF2D49BC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17b871a421_0_0:notes">
            <a:extLst>
              <a:ext uri="{FF2B5EF4-FFF2-40B4-BE49-F238E27FC236}">
                <a16:creationId xmlns:a16="http://schemas.microsoft.com/office/drawing/2014/main" id="{4053F6FC-D77B-48D1-ACB1-EEBE889C2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7" name="Google Shape;417;g117b871a421_0_0:notes">
            <a:extLst>
              <a:ext uri="{FF2B5EF4-FFF2-40B4-BE49-F238E27FC236}">
                <a16:creationId xmlns:a16="http://schemas.microsoft.com/office/drawing/2014/main" id="{98256F5A-B9C0-755D-C065-A73B478CA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(Mark Pack)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Unseen &amp; Paraphrased Data</a:t>
            </a:r>
            <a:endParaRPr lang="en-US" sz="1100" b="0" baseline="0" dirty="0"/>
          </a:p>
        </p:txBody>
      </p:sp>
    </p:spTree>
    <p:extLst>
      <p:ext uri="{BB962C8B-B14F-4D97-AF65-F5344CB8AC3E}">
        <p14:creationId xmlns:p14="http://schemas.microsoft.com/office/powerpoint/2010/main" val="113489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Live Demo</a:t>
            </a:r>
            <a:endParaRPr lang="en-US" b="0" i="0" u="none" dirty="0"/>
          </a:p>
        </p:txBody>
      </p:sp>
    </p:spTree>
    <p:extLst>
      <p:ext uri="{BB962C8B-B14F-4D97-AF65-F5344CB8AC3E}">
        <p14:creationId xmlns:p14="http://schemas.microsoft.com/office/powerpoint/2010/main" val="1435393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>
          <a:extLst>
            <a:ext uri="{FF2B5EF4-FFF2-40B4-BE49-F238E27FC236}">
              <a16:creationId xmlns:a16="http://schemas.microsoft.com/office/drawing/2014/main" id="{E180AA2A-F2D1-E0A6-B545-1E15CAF0F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dd46dd1d67_2_1016:notes">
            <a:extLst>
              <a:ext uri="{FF2B5EF4-FFF2-40B4-BE49-F238E27FC236}">
                <a16:creationId xmlns:a16="http://schemas.microsoft.com/office/drawing/2014/main" id="{E1F67BAB-B7EB-5718-59B6-6AB318630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7" name="Google Shape;837;g1dd46dd1d67_2_1016:notes">
            <a:extLst>
              <a:ext uri="{FF2B5EF4-FFF2-40B4-BE49-F238E27FC236}">
                <a16:creationId xmlns:a16="http://schemas.microsoft.com/office/drawing/2014/main" id="{F01BBD37-9278-D325-0566-67EF2B240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(Mark Pack)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Conclusion &amp; Future 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863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EA23428B-3DAE-9F5F-F697-2F3527C59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161ca7da69_2_0:notes">
            <a:extLst>
              <a:ext uri="{FF2B5EF4-FFF2-40B4-BE49-F238E27FC236}">
                <a16:creationId xmlns:a16="http://schemas.microsoft.com/office/drawing/2014/main" id="{42E68587-4D72-09D7-0FD0-E392C5287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2" name="Google Shape;412;g2161ca7da69_2_0:notes">
            <a:extLst>
              <a:ext uri="{FF2B5EF4-FFF2-40B4-BE49-F238E27FC236}">
                <a16:creationId xmlns:a16="http://schemas.microsoft.com/office/drawing/2014/main" id="{16B5FD83-EE66-4382-76EE-F0EC4F7E0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(Jackson Trader)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dirty="0"/>
              <a:t>Thank You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0450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125431217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 userDrawn="1">
  <p:cSld name="Title and three columns 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84229828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 userDrawn="1">
  <p:cSld name="Title only 2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51750905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 userDrawn="1">
  <p:cSld name="Title and three column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48023302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 userDrawn="1">
  <p:cSld name="Title and three columns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9941151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userDrawn="1">
  <p:cSld name="Title and text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57209469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userDrawn="1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16653028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 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068971556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74" r:id="rId2"/>
    <p:sldLayoutId id="2147483675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 spd="slow">
    <p:cover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 noGrp="1"/>
          </p:cNvSpPr>
          <p:nvPr>
            <p:ph type="ctrTitle" idx="4294967295"/>
          </p:nvPr>
        </p:nvSpPr>
        <p:spPr>
          <a:xfrm>
            <a:off x="1087125" y="1459148"/>
            <a:ext cx="5897400" cy="16474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bg1">
                    <a:lumMod val="10000"/>
                  </a:schemeClr>
                </a:solidFill>
              </a:rPr>
              <a:t>Spam Likely</a:t>
            </a:r>
            <a:br>
              <a:rPr lang="en" sz="2800" b="1">
                <a:latin typeface="Hanken Grotesk" panose="020B0604020202020204" charset="0"/>
              </a:rPr>
            </a:br>
            <a:r>
              <a:rPr lang="en" sz="2800" b="1">
                <a:latin typeface="Hanken Grotesk" panose="020B0604020202020204" charset="0"/>
              </a:rPr>
              <a:t>A Supervised Machine Learning Email Spam Classifier</a:t>
            </a:r>
            <a:endParaRPr b="1">
              <a:latin typeface="Hanken Grotesk" panose="020B0604020202020204" charset="0"/>
            </a:endParaRPr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4294967295"/>
          </p:nvPr>
        </p:nvSpPr>
        <p:spPr>
          <a:xfrm>
            <a:off x="1087125" y="3269861"/>
            <a:ext cx="5897400" cy="771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/>
              <a:t>Jackson Trader, Alex Bryant, Diego Lara, Mark Pack</a:t>
            </a:r>
            <a:br>
              <a:rPr lang="en-US"/>
            </a:br>
            <a:r>
              <a:rPr lang="en-US" sz="1200"/>
              <a:t>Group 5 | Fall 2025 | CS46200</a:t>
            </a:r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>
            <a:spLocks noGrp="1"/>
          </p:cNvSpPr>
          <p:nvPr>
            <p:ph type="title" idx="4294967295"/>
          </p:nvPr>
        </p:nvSpPr>
        <p:spPr>
          <a:xfrm>
            <a:off x="716550" y="339702"/>
            <a:ext cx="7710900" cy="646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tx1"/>
                </a:solidFill>
              </a:rPr>
              <a:t>Motivation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337" name="Google Shape;337;p37"/>
          <p:cNvSpPr txBox="1">
            <a:spLocks noGrp="1"/>
          </p:cNvSpPr>
          <p:nvPr>
            <p:ph type="subTitle" idx="4294967295"/>
          </p:nvPr>
        </p:nvSpPr>
        <p:spPr>
          <a:xfrm>
            <a:off x="484414" y="1404651"/>
            <a:ext cx="8175172" cy="3210435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0" indent="0">
              <a:buNone/>
            </a:pPr>
            <a:r>
              <a:rPr lang="en-US" sz="2400">
                <a:latin typeface="Figtree Black" panose="020B0604020202020204" charset="0"/>
              </a:rPr>
              <a:t>Why Email Spam Classification?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Affects everyone from individuals to businesses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/>
              <a:t>Increasingly difficult to identify spam from legitimate emails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b="1"/>
              <a:t>Goal</a:t>
            </a:r>
            <a:r>
              <a:rPr lang="en-US" sz="2000"/>
              <a:t>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Automatically </a:t>
            </a:r>
            <a:r>
              <a:rPr lang="en-US" sz="2000"/>
              <a:t>classify emails as spam or legitimate</a:t>
            </a:r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36;p37">
            <a:extLst>
              <a:ext uri="{FF2B5EF4-FFF2-40B4-BE49-F238E27FC236}">
                <a16:creationId xmlns:a16="http://schemas.microsoft.com/office/drawing/2014/main" id="{1708C02E-2111-0DBD-0664-D653F9D81B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16550" y="339702"/>
            <a:ext cx="7710900" cy="6463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tx1"/>
                </a:solidFill>
              </a:rPr>
              <a:t>Research Problem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15" name="Google Shape;337;p37">
            <a:extLst>
              <a:ext uri="{FF2B5EF4-FFF2-40B4-BE49-F238E27FC236}">
                <a16:creationId xmlns:a16="http://schemas.microsoft.com/office/drawing/2014/main" id="{CFF610D7-3EAA-7859-BFB4-81705FB1C5A6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Figtree Black" panose="020B0604020202020204" charset="0"/>
              </a:rPr>
              <a:t>Research Question &amp; The Problem</a:t>
            </a:r>
            <a:endParaRPr lang="en-US" sz="240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Could machine learning classify emails using only message text?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Binary Classification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/>
              <a:t>spam vs. ham (legitimate)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Compare baseline models with a more advanced model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37;p37">
            <a:extLst>
              <a:ext uri="{FF2B5EF4-FFF2-40B4-BE49-F238E27FC236}">
                <a16:creationId xmlns:a16="http://schemas.microsoft.com/office/drawing/2014/main" id="{EF8AB715-1730-C524-CABC-37176C9A3868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5817234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Email Spam Dataset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Kaggle email spam dataset (5,572 emails)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87.57% legitimate, 12.43% spam (imbalanced)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Each email contains a category and message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Required some data wrangling beforehand</a:t>
            </a:r>
          </a:p>
        </p:txBody>
      </p:sp>
      <p:sp>
        <p:nvSpPr>
          <p:cNvPr id="30" name="Google Shape;336;p37">
            <a:extLst>
              <a:ext uri="{FF2B5EF4-FFF2-40B4-BE49-F238E27FC236}">
                <a16:creationId xmlns:a16="http://schemas.microsoft.com/office/drawing/2014/main" id="{44B73261-1C2C-65B2-4BE4-E75018B3EA38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Dataset Overview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1866BE-B12F-2AD7-B90D-48FBD83C0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648" y="1718041"/>
            <a:ext cx="2357938" cy="245967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0F31F0D4-2AB8-5B1A-DE75-65F388BF8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82CF5A7-FC32-F0FF-7A1D-14CACDED6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535" y="2113861"/>
            <a:ext cx="4055641" cy="2527885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D36681-D35B-CC32-7269-85DA39854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24" y="1133728"/>
            <a:ext cx="4055641" cy="2527885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336;p37">
            <a:extLst>
              <a:ext uri="{FF2B5EF4-FFF2-40B4-BE49-F238E27FC236}">
                <a16:creationId xmlns:a16="http://schemas.microsoft.com/office/drawing/2014/main" id="{9468066E-3561-F3AA-1DE3-21732A48D5D1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WordClouds</a:t>
            </a:r>
          </a:p>
        </p:txBody>
      </p:sp>
    </p:spTree>
    <p:extLst>
      <p:ext uri="{BB962C8B-B14F-4D97-AF65-F5344CB8AC3E}">
        <p14:creationId xmlns:p14="http://schemas.microsoft.com/office/powerpoint/2010/main" val="1814463465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5B972670-EA7A-CAAA-4525-246BCB398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7;p37">
            <a:extLst>
              <a:ext uri="{FF2B5EF4-FFF2-40B4-BE49-F238E27FC236}">
                <a16:creationId xmlns:a16="http://schemas.microsoft.com/office/drawing/2014/main" id="{58D3D37C-D3EF-9993-D670-4A708A557F9C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Baseline Models vs. Primary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Logistic Regression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Estimates probability of an email being either spam or legitimate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Multinomial Naïve Bayes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Probabilistic model using frequencies to estimate likelihoods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LinearSVC</a:t>
            </a:r>
            <a:r>
              <a:rPr lang="en-US" sz="2000"/>
              <a:t>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Effective for high-dimensional TF-IDF feature spaces</a:t>
            </a:r>
          </a:p>
        </p:txBody>
      </p:sp>
      <p:sp>
        <p:nvSpPr>
          <p:cNvPr id="6" name="Google Shape;336;p37">
            <a:extLst>
              <a:ext uri="{FF2B5EF4-FFF2-40B4-BE49-F238E27FC236}">
                <a16:creationId xmlns:a16="http://schemas.microsoft.com/office/drawing/2014/main" id="{A86045A8-BB01-F1ED-0DD8-7F26E390B6AB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Why These Models?</a:t>
            </a:r>
          </a:p>
        </p:txBody>
      </p:sp>
    </p:spTree>
    <p:extLst>
      <p:ext uri="{BB962C8B-B14F-4D97-AF65-F5344CB8AC3E}">
        <p14:creationId xmlns:p14="http://schemas.microsoft.com/office/powerpoint/2010/main" val="297142715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37;p37">
            <a:extLst>
              <a:ext uri="{FF2B5EF4-FFF2-40B4-BE49-F238E27FC236}">
                <a16:creationId xmlns:a16="http://schemas.microsoft.com/office/drawing/2014/main" id="{3D869A22-0292-2703-B80D-B4DCB28D0AD2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The Process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Preprocess raw email messages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Convert text into numerical feature vectors using TF-IDF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Train multiple supervised machine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Evaluate models using Scikit-learn’s classification metrics</a:t>
            </a:r>
          </a:p>
        </p:txBody>
      </p:sp>
      <p:sp>
        <p:nvSpPr>
          <p:cNvPr id="27" name="Google Shape;336;p37">
            <a:extLst>
              <a:ext uri="{FF2B5EF4-FFF2-40B4-BE49-F238E27FC236}">
                <a16:creationId xmlns:a16="http://schemas.microsoft.com/office/drawing/2014/main" id="{B0AE2BE0-EF43-86F2-5BA1-2583A1DC8655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Proposed Method / Solution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11C2348B-EC95-A337-45C6-214648BC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7;p37">
            <a:extLst>
              <a:ext uri="{FF2B5EF4-FFF2-40B4-BE49-F238E27FC236}">
                <a16:creationId xmlns:a16="http://schemas.microsoft.com/office/drawing/2014/main" id="{EF5EAB69-EFE9-8651-FD29-9EFE5B98314F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Training &amp; Evaluating Our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Jupyter Notebook in Python &amp; Google Colab IDE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Libraries</a:t>
            </a:r>
            <a:r>
              <a:rPr lang="en-US" sz="2000"/>
              <a:t>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NumPy</a:t>
            </a:r>
            <a:r>
              <a:rPr lang="en-US" sz="2000"/>
              <a:t>, Pandas, Matplotlib, WordCloud, Scikit-learn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Stratified split to preserve 80/20 percent distribution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Same TF-IDF numerical vector features used for all models</a:t>
            </a:r>
          </a:p>
        </p:txBody>
      </p:sp>
      <p:sp>
        <p:nvSpPr>
          <p:cNvPr id="4" name="Google Shape;336;p37">
            <a:extLst>
              <a:ext uri="{FF2B5EF4-FFF2-40B4-BE49-F238E27FC236}">
                <a16:creationId xmlns:a16="http://schemas.microsoft.com/office/drawing/2014/main" id="{C5E6BC47-7C04-C5BC-D92A-C73EC2E94D57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Experimental Settings</a:t>
            </a:r>
          </a:p>
        </p:txBody>
      </p:sp>
    </p:spTree>
    <p:extLst>
      <p:ext uri="{BB962C8B-B14F-4D97-AF65-F5344CB8AC3E}">
        <p14:creationId xmlns:p14="http://schemas.microsoft.com/office/powerpoint/2010/main" val="213789832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>
          <a:extLst>
            <a:ext uri="{FF2B5EF4-FFF2-40B4-BE49-F238E27FC236}">
              <a16:creationId xmlns:a16="http://schemas.microsoft.com/office/drawing/2014/main" id="{0191ED43-B19C-4C33-4D39-BAF37177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7;p37">
            <a:extLst>
              <a:ext uri="{FF2B5EF4-FFF2-40B4-BE49-F238E27FC236}">
                <a16:creationId xmlns:a16="http://schemas.microsoft.com/office/drawing/2014/main" id="{FE1E8971-7F8E-2A4F-5632-FF03BA1796AB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How Performance is Measured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Accuracy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How often the model is correct overall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Precision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Of emails labeled spam, how many are actually spam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Recall</a:t>
            </a:r>
            <a:r>
              <a:rPr lang="en-US" sz="2000"/>
              <a:t>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Of all real spam emails, how many did the model correctly catch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F1 Score</a:t>
            </a:r>
            <a:r>
              <a:rPr lang="en-US" sz="2000"/>
              <a:t>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Mean of precision and recall metrics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>
                <a:latin typeface="Hanken Grotesk" panose="020B0604020202020204" charset="0"/>
              </a:rPr>
              <a:t>Important for evaluating performance on imbalanced datasets</a:t>
            </a:r>
          </a:p>
        </p:txBody>
      </p:sp>
      <p:sp>
        <p:nvSpPr>
          <p:cNvPr id="7" name="Google Shape;336;p37">
            <a:extLst>
              <a:ext uri="{FF2B5EF4-FFF2-40B4-BE49-F238E27FC236}">
                <a16:creationId xmlns:a16="http://schemas.microsoft.com/office/drawing/2014/main" id="{FF09B3B4-43F9-260B-20AD-808310C8FE54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113374220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C6ECEA98-7CE7-E2BC-A50E-5BB1835A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7;p37">
            <a:extLst>
              <a:ext uri="{FF2B5EF4-FFF2-40B4-BE49-F238E27FC236}">
                <a16:creationId xmlns:a16="http://schemas.microsoft.com/office/drawing/2014/main" id="{0B4FBD75-259E-377D-0171-A5D354C376E2}"/>
              </a:ext>
            </a:extLst>
          </p:cNvPr>
          <p:cNvSpPr txBox="1">
            <a:spLocks/>
          </p:cNvSpPr>
          <p:nvPr/>
        </p:nvSpPr>
        <p:spPr>
          <a:xfrm>
            <a:off x="484413" y="1404651"/>
            <a:ext cx="3724029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Comparing All Models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Logistic Regression and Naïve Bayes performed well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LinearSVC achieved the strongest overall performance</a:t>
            </a:r>
          </a:p>
        </p:txBody>
      </p:sp>
      <p:sp>
        <p:nvSpPr>
          <p:cNvPr id="7" name="Google Shape;336;p37">
            <a:extLst>
              <a:ext uri="{FF2B5EF4-FFF2-40B4-BE49-F238E27FC236}">
                <a16:creationId xmlns:a16="http://schemas.microsoft.com/office/drawing/2014/main" id="{C8DFB6DE-181A-5771-B696-702A70573017}"/>
              </a:ext>
            </a:extLst>
          </p:cNvPr>
          <p:cNvSpPr txBox="1">
            <a:spLocks/>
          </p:cNvSpPr>
          <p:nvPr/>
        </p:nvSpPr>
        <p:spPr>
          <a:xfrm>
            <a:off x="413518" y="339702"/>
            <a:ext cx="8316964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Experimental Results &amp;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B4D2DC-BD81-BB42-3493-F3B1869C4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697" y="1404651"/>
            <a:ext cx="4120753" cy="3158322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91194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>
          <a:extLst>
            <a:ext uri="{FF2B5EF4-FFF2-40B4-BE49-F238E27FC236}">
              <a16:creationId xmlns:a16="http://schemas.microsoft.com/office/drawing/2014/main" id="{260D8351-AA7E-1BCD-2297-02BD9E221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7;p37">
            <a:extLst>
              <a:ext uri="{FF2B5EF4-FFF2-40B4-BE49-F238E27FC236}">
                <a16:creationId xmlns:a16="http://schemas.microsoft.com/office/drawing/2014/main" id="{B23DEDFC-AE55-DC51-FCB0-5F9714FCD895}"/>
              </a:ext>
            </a:extLst>
          </p:cNvPr>
          <p:cNvSpPr txBox="1">
            <a:spLocks/>
          </p:cNvSpPr>
          <p:nvPr/>
        </p:nvSpPr>
        <p:spPr>
          <a:xfrm>
            <a:off x="484414" y="1134533"/>
            <a:ext cx="8175172" cy="348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Effects of Changing Preprocessing &amp; Hyperparameters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N-gram Range Experiment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Increasing range had minimal improvement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Ablation Study</a:t>
            </a:r>
            <a:r>
              <a:rPr lang="en-US" sz="2000"/>
              <a:t>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Lowercasing vs. Default Messages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Results </a:t>
            </a:r>
            <a:r>
              <a:rPr lang="en-US" sz="2000">
                <a:latin typeface="Figtree Black" panose="020B0604020202020204" charset="0"/>
              </a:rPr>
              <a:t>→ </a:t>
            </a:r>
            <a:r>
              <a:rPr lang="en-US" sz="2000">
                <a:latin typeface="Hanken Grotesk" panose="020B0604020202020204" charset="0"/>
              </a:rPr>
              <a:t>Changes led to diminishing returns across the metrics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>
                <a:latin typeface="Hanken Grotesk" panose="020B0604020202020204" charset="0"/>
              </a:rPr>
              <a:t>LinearSVC only used for other experiments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/>
          </a:p>
        </p:txBody>
      </p:sp>
      <p:sp>
        <p:nvSpPr>
          <p:cNvPr id="6" name="Google Shape;336;p37">
            <a:extLst>
              <a:ext uri="{FF2B5EF4-FFF2-40B4-BE49-F238E27FC236}">
                <a16:creationId xmlns:a16="http://schemas.microsoft.com/office/drawing/2014/main" id="{348192F7-1116-ADFA-7D04-EC0FF042CA91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Other Experiments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7CCEC-E5A3-2844-E727-C777814F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26" y="3758718"/>
            <a:ext cx="3174818" cy="999246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16A76E-957C-CFD5-14D8-A7A84E0B8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81" y="3758718"/>
            <a:ext cx="4338393" cy="999246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00482082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3C535FA1-C6C1-0616-55AB-58825084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7;p37">
            <a:extLst>
              <a:ext uri="{FF2B5EF4-FFF2-40B4-BE49-F238E27FC236}">
                <a16:creationId xmlns:a16="http://schemas.microsoft.com/office/drawing/2014/main" id="{7851858C-BAD8-B6B1-A415-D7FC0669A63F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indent="0">
              <a:buFont typeface="Hanken Grotesk"/>
              <a:buNone/>
            </a:pPr>
            <a:r>
              <a:rPr lang="en-US" sz="2400">
                <a:latin typeface="Figtree Black" panose="020B0604020202020204" charset="0"/>
              </a:rPr>
              <a:t>Generalization Tests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Accuracy/Precision remained high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Recall and F1 score dropped significantly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Generalization is difficult; many patterns</a:t>
            </a:r>
            <a:endParaRPr lang="en-US" sz="2000">
              <a:highlight>
                <a:srgbClr val="FFFF00"/>
              </a:highlight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LinearSVC only used on this test as well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>
              <a:highlight>
                <a:srgbClr val="FFFF00"/>
              </a:highlight>
            </a:endParaRPr>
          </a:p>
        </p:txBody>
      </p:sp>
      <p:sp>
        <p:nvSpPr>
          <p:cNvPr id="4" name="Google Shape;336;p37">
            <a:extLst>
              <a:ext uri="{FF2B5EF4-FFF2-40B4-BE49-F238E27FC236}">
                <a16:creationId xmlns:a16="http://schemas.microsoft.com/office/drawing/2014/main" id="{FE1E146F-6766-1671-B0C6-C7DAE07A0E61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Unseen &amp; Paraphrased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0F8104-E25F-F415-C0A8-D41E02D68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223" y="2428556"/>
            <a:ext cx="2483363" cy="1162623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C8C62F-4BE0-4DDC-BF33-D61DFE4E2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664" y="1100773"/>
            <a:ext cx="1795922" cy="1162623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405898-AD3C-2653-6486-336BA47813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23" r="223"/>
          <a:stretch>
            <a:fillRect/>
          </a:stretch>
        </p:blipFill>
        <p:spPr>
          <a:xfrm>
            <a:off x="5366774" y="3795047"/>
            <a:ext cx="3292812" cy="985199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  <a:effectLst>
            <a:outerShdw blurRad="215900" sx="98000" sy="98000" algn="ctr" rotWithShape="0">
              <a:prstClr val="black">
                <a:alpha val="16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72654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36;p37">
            <a:extLst>
              <a:ext uri="{FF2B5EF4-FFF2-40B4-BE49-F238E27FC236}">
                <a16:creationId xmlns:a16="http://schemas.microsoft.com/office/drawing/2014/main" id="{FB10A1E7-5797-65FB-5D5F-ED5921A15141}"/>
              </a:ext>
            </a:extLst>
          </p:cNvPr>
          <p:cNvSpPr txBox="1">
            <a:spLocks/>
          </p:cNvSpPr>
          <p:nvPr/>
        </p:nvSpPr>
        <p:spPr>
          <a:xfrm>
            <a:off x="3214748" y="1918173"/>
            <a:ext cx="4731723" cy="130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4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6000"/>
              <a:t>Live Demo!</a:t>
            </a:r>
          </a:p>
        </p:txBody>
      </p:sp>
    </p:spTree>
    <p:extLst>
      <p:ext uri="{BB962C8B-B14F-4D97-AF65-F5344CB8AC3E}">
        <p14:creationId xmlns:p14="http://schemas.microsoft.com/office/powerpoint/2010/main" val="322307817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>
          <a:extLst>
            <a:ext uri="{FF2B5EF4-FFF2-40B4-BE49-F238E27FC236}">
              <a16:creationId xmlns:a16="http://schemas.microsoft.com/office/drawing/2014/main" id="{2D5C069C-4632-C876-E656-0DA03087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37;p37">
            <a:extLst>
              <a:ext uri="{FF2B5EF4-FFF2-40B4-BE49-F238E27FC236}">
                <a16:creationId xmlns:a16="http://schemas.microsoft.com/office/drawing/2014/main" id="{64BECAD1-1B97-8BCF-1AF7-C671A93F20A9}"/>
              </a:ext>
            </a:extLst>
          </p:cNvPr>
          <p:cNvSpPr txBox="1">
            <a:spLocks/>
          </p:cNvSpPr>
          <p:nvPr/>
        </p:nvSpPr>
        <p:spPr>
          <a:xfrm>
            <a:off x="484414" y="1404651"/>
            <a:ext cx="8175172" cy="3210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1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sz="14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Supervised machine learning models are effective for spam classification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/>
              <a:t>LinearSVC performed best overall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/>
              <a:t>Future Work: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/>
              <a:t>Add more email features (ex. subject, sender)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/>
              <a:t>Larger and more diverse datasets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/>
              <a:t>Tune hyperparameters of TF-IDF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/>
              <a:t>Change preprocessing techniques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/>
          </a:p>
        </p:txBody>
      </p:sp>
      <p:sp>
        <p:nvSpPr>
          <p:cNvPr id="3" name="Google Shape;336;p37">
            <a:extLst>
              <a:ext uri="{FF2B5EF4-FFF2-40B4-BE49-F238E27FC236}">
                <a16:creationId xmlns:a16="http://schemas.microsoft.com/office/drawing/2014/main" id="{C64B9F46-9C5A-9CDE-89DF-A971337CF862}"/>
              </a:ext>
            </a:extLst>
          </p:cNvPr>
          <p:cNvSpPr txBox="1">
            <a:spLocks/>
          </p:cNvSpPr>
          <p:nvPr/>
        </p:nvSpPr>
        <p:spPr>
          <a:xfrm>
            <a:off x="716550" y="339702"/>
            <a:ext cx="7710900" cy="646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3600">
                <a:solidFill>
                  <a:schemeClr val="tx1"/>
                </a:solidFill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314956223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15CBEA53-9E06-750D-A20D-75F0EC8F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>
            <a:extLst>
              <a:ext uri="{FF2B5EF4-FFF2-40B4-BE49-F238E27FC236}">
                <a16:creationId xmlns:a16="http://schemas.microsoft.com/office/drawing/2014/main" id="{C21C9995-453E-E8E0-D7E8-FF29E064F1F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644450" y="888718"/>
            <a:ext cx="5855100" cy="17287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you!</a:t>
            </a:r>
            <a:br>
              <a:rPr lang="en" sz="2800"/>
            </a:br>
            <a:r>
              <a:rPr lang="en" sz="4400"/>
              <a:t>Any Questions?</a:t>
            </a:r>
            <a:br>
              <a:rPr lang="en" sz="4400"/>
            </a:br>
            <a:r>
              <a:rPr lang="en" sz="2000">
                <a:latin typeface="Hanken Grotesk" panose="020B0604020202020204" charset="0"/>
              </a:rPr>
              <a:t>Let us know.</a:t>
            </a:r>
            <a:endParaRPr>
              <a:latin typeface="Hanken Grotesk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26819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333333"/>
    </a:dk1>
    <a:lt1>
      <a:srgbClr val="FDFDFD"/>
    </a:lt1>
    <a:dk2>
      <a:srgbClr val="E8E7E7"/>
    </a:dk2>
    <a:lt2>
      <a:srgbClr val="B2B2B2"/>
    </a:lt2>
    <a:accent1>
      <a:srgbClr val="777777"/>
    </a:accent1>
    <a:accent2>
      <a:srgbClr val="FFFFFF"/>
    </a:accent2>
    <a:accent3>
      <a:srgbClr val="FFFFFF"/>
    </a:accent3>
    <a:accent4>
      <a:srgbClr val="FFFFFF"/>
    </a:accent4>
    <a:accent5>
      <a:srgbClr val="FFFFFF"/>
    </a:accent5>
    <a:accent6>
      <a:srgbClr val="FFFFFF"/>
    </a:accent6>
    <a:hlink>
      <a:srgbClr val="333333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551</Words>
  <Application>Microsoft Office PowerPoint</Application>
  <PresentationFormat>On-screen Show (16:9)</PresentationFormat>
  <Paragraphs>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Hanken Grotesk</vt:lpstr>
      <vt:lpstr>Figtree Black</vt:lpstr>
      <vt:lpstr>Arial</vt:lpstr>
      <vt:lpstr>Wingdings</vt:lpstr>
      <vt:lpstr>Elegant Black &amp; White Thesis Defense by Slidesgo</vt:lpstr>
      <vt:lpstr>Spam Likely A Supervised Machine Learning Email Spam Classifier</vt:lpstr>
      <vt:lpstr>Motivation</vt:lpstr>
      <vt:lpstr>Research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Any Questions? Let us know.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Likely</dc:title>
  <dc:subject>CS46200</dc:subject>
  <dc:creator>Jackson Trader;Alex Bryant;Diego Lara;Mark Pack</dc:creator>
  <cp:lastModifiedBy>Jackson Cole Trader</cp:lastModifiedBy>
  <cp:revision>3</cp:revision>
  <dcterms:modified xsi:type="dcterms:W3CDTF">2025-12-19T20:39:33Z</dcterms:modified>
</cp:coreProperties>
</file>